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95012c85-d897-bd84-7de4-2a267b81c953}">
          <p14:sldIdLst>
            <p14:sldId id="256"/>
            <p14:sldId id="257"/>
          </p14:sldIdLst>
        </p14:section>
        <p14:section name="Data and method" id="{6fcc9166-e9c3-d4ef-6b9c-068ab51a1adf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Results" id="{ff6443d2-3414-712e-6d09-762a060929b7}">
          <p14:sldIdLst>
            <p14:sldId id="265"/>
            <p14:sldId id="266"/>
            <p14:sldId id="267"/>
            <p14:sldId id="268"/>
          </p14:sldIdLst>
        </p14:section>
        <p14:section name="Validity" id="{ef6f07ba-c82e-1111-b1c9-2e6c39230abe}">
          <p14:sldIdLst>
            <p14:sldId id="269"/>
            <p14:sldId id="270"/>
          </p14:sldIdLst>
        </p14:section>
        <p14:section name="Conclusion" id="{1fdd351d-d023-5e7d-315e-7256635288d7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3A5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3A5F"/>
                </a:solidFill>
                <a:latin typeface="+mn-lt"/>
              </a:rPr>
              <a:t>Trial accuracy by limb (chance = 50%)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3D7A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All imagery</c:v>
                  </c:pt>
                  <c:pt idx="1">
                    <c:v>Arm</c:v>
                  </c:pt>
                  <c:pt idx="2">
                    <c:v>Leg</c:v>
                  </c:pt>
                  <c:pt idx="3">
                    <c:v>Wrist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58.09</c:v>
                </c:pt>
                <c:pt idx="1">
                  <c:v>74.07</c:v>
                </c:pt>
                <c:pt idx="2">
                  <c:v>58.97</c:v>
                </c:pt>
                <c:pt idx="3">
                  <c:v>58.54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topic: classifying real versus imagined limb movements from a 14-channel consumer EEG headset.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levels of difficulty. Person-wise validation is the key constraint: every reported number comes from people the model never saw during training.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session cycles through the six limbs, first performing and then imagining each movement. 59 recordings were collected; 53 passed onset checks; after trial rejection 476 trials from 47 people remain.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right: raw EEG and motion, onset detection, filtering, trial rejection, per-recording normalisation, 2 s windows, 1,771 features, per-recording alignment, ensemble, and finally averaging the 17 window predictions of each 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this step the action and imagery labels would be shifted in several sessions. A ±2 s onset shift changes binary accuracy by about 1 to 4 points, reported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rejections were large amplitude artefacts from movement and blinks, which is expected with a dry consumer headset.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handcrafted set is the classic EEG feature set. Spectrogram and scalogram features add time-frequency detail; the Riemannian features describe how channels co-vary.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Feature-family results are trial-level without mirror augmentation. Each family is useful alone, but combining them is best.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model outputs class probabilities per window; they are averaged, then averaged again over the 17 windows of a trial. Mirror copies are added only to training folds, never to test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Window-level accuracies are lower: 68.53% binary, 21.01% six-class, 15.75% twelve-class. Averaging the 17 windows of a trial adds roughly 12 points for binary.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window-level accuracies so all models are on equal footing. The ensemble's trial-level result is the 80.25% from the previous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separates action from imagery well but confuses limbs, especially wrists and legs, which have small or deep cortical representations that 14 scalp channels capture poorly.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versus right imagery is the hardest binary task because imagery produces weak, lateralised mu changes. Arms show the clearest lateralisation, matching their large cortical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scaler, alignment and model is refitted inside each fold. Normalisation per recording uses no labels. Permutation tests at chance confirm the pipeline is not memorising subject identity.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CSP learns spatial filters for two-class variance differences. Our feature set already includes band power per channel and Riemannian covariance features, which carry the same information, so CSP is expected to add little.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about the multi-class results; the main contribution is a leakage-free pipeline and a strong action versus imagery result on a consumer headset.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23444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788920"/>
            <a:ext cx="78638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Group 18  |  EEG motor action and motor imagery classification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23444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EEG-Based Motor Action and Motor Imagery Classification Using Machine Learning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78892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Harsada K  ·  V Tanay Darshan  ·  K Nikhitha  ·  S Sai Tejesh Reddy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Guide: Dr. Abhishek S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accent5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Group 18  ·  Amrita School of Artificial Intelligence, Coimbatore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Problem and objectives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Can a low-cost 14-channel headset tell whether a person is moving a limb or only imagining it, and which limb?</a:t>
            </a:r>
            <a:endParaRPr lang="en-US" sz="1500" dirty="0"/>
          </a:p>
        </p:txBody>
      </p:sp>
      <p:sp>
        <p:nvSpPr>
          <p:cNvPr id="4" name="objective card 1"/>
          <p:cNvSpPr/>
          <p:nvPr/>
        </p:nvSpPr>
        <p:spPr>
          <a:xfrm>
            <a:off x="457200" y="1783080"/>
            <a:ext cx="2606040" cy="2194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Action vs imagery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8346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Separate real movement from imagined movement (2 classes).</a:t>
            </a:r>
            <a:endParaRPr lang="en-US" sz="1200" dirty="0"/>
          </a:p>
        </p:txBody>
      </p:sp>
      <p:sp>
        <p:nvSpPr>
          <p:cNvPr id="8" name="objective card 2"/>
          <p:cNvSpPr/>
          <p:nvPr/>
        </p:nvSpPr>
        <p:spPr>
          <a:xfrm>
            <a:off x="3246120" y="1783080"/>
            <a:ext cx="2606040" cy="2194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Which limb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8346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Identify the body part: right/left arm, leg, wrist (6 classes) and limb × condition (12 classes).</a:t>
            </a:r>
            <a:endParaRPr lang="en-US" sz="1200" dirty="0"/>
          </a:p>
        </p:txBody>
      </p:sp>
      <p:sp>
        <p:nvSpPr>
          <p:cNvPr id="12" name="objective card 3"/>
          <p:cNvSpPr/>
          <p:nvPr/>
        </p:nvSpPr>
        <p:spPr>
          <a:xfrm>
            <a:off x="6035040" y="1783080"/>
            <a:ext cx="2606040" cy="2194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636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Left vs right imagery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8346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Decide the side of an imagined movement, the core control signal of a motor-imagery BCI.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Constraint throughout: evaluation on unseen people only (person-wise cross-validation), with no information leaking from test subjects.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Dataset and recording protocol</a:t>
            </a:r>
            <a:endParaRPr lang="en-US" sz="2400" dirty="0"/>
          </a:p>
        </p:txBody>
      </p:sp>
      <p:pic>
        <p:nvPicPr>
          <p:cNvPr id="3" name="fig2_protocol" descr="fig2 protoc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644" y="914400"/>
            <a:ext cx="8228712" cy="2377440"/>
          </a:xfrm>
          <a:prstGeom prst="rect">
            <a:avLst/>
          </a:prstGeom>
        </p:spPr>
      </p:pic>
      <p:sp>
        <p:nvSpPr>
          <p:cNvPr id="4" name="stat participants"/>
          <p:cNvSpPr txBox="1"/>
          <p:nvPr/>
        </p:nvSpPr>
        <p:spPr>
          <a:xfrm>
            <a:off x="548640" y="3337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959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participants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702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51 recordings used</a:t>
            </a:r>
            <a:endParaRPr lang="en-US" sz="1100" dirty="0"/>
          </a:p>
        </p:txBody>
      </p:sp>
      <p:sp>
        <p:nvSpPr>
          <p:cNvPr id="7" name="stat Emotiv EPOC X"/>
          <p:cNvSpPr txBox="1"/>
          <p:nvPr/>
        </p:nvSpPr>
        <p:spPr>
          <a:xfrm>
            <a:off x="2606040" y="3337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ch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2606040" y="39959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Emotiv EPOC X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606040" y="42702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128 Hz, plus motion sensor</a:t>
            </a:r>
            <a:endParaRPr lang="en-US" sz="1100" dirty="0"/>
          </a:p>
        </p:txBody>
      </p:sp>
      <p:sp>
        <p:nvSpPr>
          <p:cNvPr id="10" name="stat tasks"/>
          <p:cNvSpPr txBox="1"/>
          <p:nvPr/>
        </p:nvSpPr>
        <p:spPr>
          <a:xfrm>
            <a:off x="4663440" y="3337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9959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tasks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42702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6 limbs × action / imagery</a:t>
            </a:r>
            <a:endParaRPr lang="en-US" sz="1100" dirty="0"/>
          </a:p>
        </p:txBody>
      </p:sp>
      <p:sp>
        <p:nvSpPr>
          <p:cNvPr id="13" name="stat clean trials"/>
          <p:cNvSpPr txBox="1"/>
          <p:nvPr/>
        </p:nvSpPr>
        <p:spPr>
          <a:xfrm>
            <a:off x="6720840" y="3337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476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6720840" y="39959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clean trials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720840" y="42702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235 action, 241 imagery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Processing pipeline</a:t>
            </a:r>
            <a:endParaRPr lang="en-US" sz="2400" dirty="0"/>
          </a:p>
        </p:txBody>
      </p:sp>
      <p:pic>
        <p:nvPicPr>
          <p:cNvPr id="3" name="fig1_pipeline" descr="fig1 pipe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881732"/>
            <a:ext cx="8046720" cy="349433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All normalisation steps are label-free; every learned step is fitted on training people only.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Finding when the tasks start</a:t>
            </a:r>
            <a:endParaRPr lang="en-US" sz="2400" dirty="0"/>
          </a:p>
        </p:txBody>
      </p:sp>
      <p:pic>
        <p:nvPicPr>
          <p:cNvPr id="3" name="fig3_onset" descr="fig3 ons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84743"/>
            <a:ext cx="8229600" cy="257391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Task start varied between recordings, so fixed timing would mislabel windows.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Head-motion energy from the motion sensor is high during real movement and low during imagery; the schedule offset that best separates them is taken as the onset.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Accepted when the contrast is strong (t ≥ 4, all 6 pairs agree): 48 recordings; 5 more checked against recording length; 2 excluded.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Filtering, cleaning and normalisation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4754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Band-pass 4–45 Hz </a:t>
            </a:r>
            <a:r>
              <a:rPr lang="en-US" sz="1500" dirty="0">
                <a:solidFill>
                  <a:schemeClr val="tx1"/>
                </a:solidFill>
              </a:rPr>
              <a:t>zero-phase FIR (MNE): removes drift and line noise, keeps theta to gamma.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Trial rejection </a:t>
            </a:r>
            <a:r>
              <a:rPr lang="en-US" sz="1500" dirty="0">
                <a:solidFill>
                  <a:schemeClr val="tx1"/>
                </a:solidFill>
              </a:rPr>
              <a:t>flat signal, peak amplitude ≥ 150 µV, or mean |kurtosis| ≥ 10.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Per-recording z-score </a:t>
            </a:r>
            <a:r>
              <a:rPr lang="en-US" sz="1500" dirty="0">
                <a:solidFill>
                  <a:schemeClr val="tx1"/>
                </a:solidFill>
              </a:rPr>
              <a:t>of each channel, then of each feature: removes headset fit and session offsets without using labels.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Windows </a:t>
            </a:r>
            <a:r>
              <a:rPr lang="en-US" sz="1500" dirty="0">
                <a:solidFill>
                  <a:schemeClr val="tx1"/>
                </a:solidFill>
              </a:rPr>
              <a:t>2 s long, 0.5 s stride: 17 windows per trial, 8,092 windows in total.</a:t>
            </a:r>
            <a:endParaRPr lang="en-US" sz="1500" dirty="0"/>
          </a:p>
        </p:txBody>
      </p:sp>
      <p:sp>
        <p:nvSpPr>
          <p:cNvPr id="4" name="rejection panel"/>
          <p:cNvSpPr/>
          <p:nvPr/>
        </p:nvSpPr>
        <p:spPr>
          <a:xfrm>
            <a:off x="5577840" y="1005840"/>
            <a:ext cx="3108960" cy="34747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806440" y="1143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Trials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806440" y="15087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636</a:t>
            </a:r>
            <a:r>
              <a:rPr lang="en-US" sz="2200" dirty="0">
                <a:solidFill>
                  <a:schemeClr val="accent4"/>
                </a:solidFill>
              </a:rPr>
              <a:t>  →  </a:t>
            </a: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476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2331720"/>
          <a:ext cx="269748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Amplitude ≥ 150 µV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Kurtosis ≥ 10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Window overlap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806440" y="34290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Rejection reasons can overlap; 160 trials removed in total.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Features: 1,771 per window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394960"/>
                <a:gridCol w="914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Family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What it captures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Count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Handcrafted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Band powers (Welch), ratios, asymmetry, Hjorth, statistics, fractal, DWT (db4)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336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Spectrogram (STFT)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Short-time Fourier power over time and frequency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560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Scalogram (CWT)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Morlet wavelet power: fine time detail at high frequencies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714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Connectivity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Coherence between channel pairs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Riemannian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Covariance matrix mapped to tangent space, recentred per recording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1,771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Every feature is z-scored within its own recording before classification.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Spectrogram and scalogram analysis</a:t>
            </a:r>
            <a:endParaRPr lang="en-US" sz="2400" dirty="0"/>
          </a:p>
        </p:txBody>
      </p:sp>
      <p:pic>
        <p:nvPicPr>
          <p:cNvPr id="3" name="fig5_timefreq" descr="fig5 timefreq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79159"/>
            <a:ext cx="5120640" cy="257380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760720" y="1005840"/>
            <a:ext cx="2926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Mu (8–13 Hz) power drops during movement over the motor cortex; the drop is weaker for imagery.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scalogram resolves short bursts that the spectrogram smears.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Used alone: STFT 76.47%, CWT 77.52%, STFT+CWT 78.15% (binary). All features together: 79.62%.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Classifier: a four-model ensemble</a:t>
            </a:r>
            <a:endParaRPr lang="en-US" sz="2400" dirty="0"/>
          </a:p>
        </p:txBody>
      </p:sp>
      <p:sp>
        <p:nvSpPr>
          <p:cNvPr id="3" name="model Logistic Regression"/>
          <p:cNvSpPr/>
          <p:nvPr/>
        </p:nvSpPr>
        <p:spPr>
          <a:xfrm>
            <a:off x="457200" y="1005840"/>
            <a:ext cx="2377440" cy="566928"/>
          </a:xfrm>
          <a:prstGeom prst="rect">
            <a:avLst/>
          </a:prstGeom>
          <a:solidFill>
            <a:schemeClr val="bg2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058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Logistic Regression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C = 0.01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834640" y="1289304"/>
            <a:ext cx="411480" cy="1065276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6" name="model LDA"/>
          <p:cNvSpPr/>
          <p:nvPr/>
        </p:nvSpPr>
        <p:spPr>
          <a:xfrm>
            <a:off x="457200" y="1719072"/>
            <a:ext cx="2377440" cy="566928"/>
          </a:xfrm>
          <a:prstGeom prst="rect">
            <a:avLst/>
          </a:prstGeom>
          <a:solidFill>
            <a:schemeClr val="bg2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LDA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shrinkage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834640" y="2002536"/>
            <a:ext cx="411480" cy="352044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9" name="model Extra Trees"/>
          <p:cNvSpPr/>
          <p:nvPr/>
        </p:nvSpPr>
        <p:spPr>
          <a:xfrm>
            <a:off x="457200" y="2432304"/>
            <a:ext cx="2377440" cy="566928"/>
          </a:xfrm>
          <a:prstGeom prst="rect">
            <a:avLst/>
          </a:prstGeom>
          <a:solidFill>
            <a:schemeClr val="bg2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3230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Extra Trees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500 trees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 flipV="1">
            <a:off x="2834640" y="2354580"/>
            <a:ext cx="411480" cy="361188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12" name="model Hist. Gradient Boosting"/>
          <p:cNvSpPr/>
          <p:nvPr/>
        </p:nvSpPr>
        <p:spPr>
          <a:xfrm>
            <a:off x="457200" y="3145536"/>
            <a:ext cx="2377440" cy="566928"/>
          </a:xfrm>
          <a:prstGeom prst="rect">
            <a:avLst/>
          </a:prstGeom>
          <a:solidFill>
            <a:schemeClr val="bg2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14553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Hist. Gradient Boosting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200 iterations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 flipV="1">
            <a:off x="2834640" y="2354580"/>
            <a:ext cx="411480" cy="107442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15" name="average box"/>
          <p:cNvSpPr/>
          <p:nvPr/>
        </p:nvSpPr>
        <p:spPr>
          <a:xfrm>
            <a:off x="3246120" y="1920240"/>
            <a:ext cx="1463040" cy="8686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192024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Average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probabilities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09160" y="2354580"/>
            <a:ext cx="320040" cy="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18" name="trial box"/>
          <p:cNvSpPr/>
          <p:nvPr/>
        </p:nvSpPr>
        <p:spPr>
          <a:xfrm>
            <a:off x="5029200" y="1920240"/>
            <a:ext cx="1371600" cy="8686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29200" y="192024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Trial vote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mean of 17 windows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Mirror augmentation: </a:t>
            </a:r>
            <a:r>
              <a:rPr lang="en-US" sz="1250" dirty="0">
                <a:solidFill>
                  <a:schemeClr val="tx1"/>
                </a:solidFill>
              </a:rPr>
              <a:t>training windows are copied with left/right channels swapped and labels flipped (RA↔LA).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Validation: </a:t>
            </a:r>
            <a:r>
              <a:rPr lang="en-US" sz="1250" dirty="0">
                <a:solidFill>
                  <a:schemeClr val="tx1"/>
                </a:solidFill>
              </a:rPr>
              <a:t>GroupKFold by person, 5 folds (binary, L/R) and 3 folds (6/12-class).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1051560"/>
            <a:ext cx="2057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accent4"/>
                </a:solidFill>
              </a:rPr>
              <a:t>Linear models handle the many weak spectral cues; tree models pick up non-linear interactions. Averaging is more stable than any single model.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Results on unseen participants</a:t>
            </a:r>
            <a:endParaRPr lang="en-US" sz="2400" dirty="0"/>
          </a:p>
        </p:txBody>
      </p:sp>
      <p:sp>
        <p:nvSpPr>
          <p:cNvPr id="3" name="result Action vs imagery"/>
          <p:cNvSpPr/>
          <p:nvPr/>
        </p:nvSpPr>
        <p:spPr>
          <a:xfrm>
            <a:off x="457200" y="1051560"/>
            <a:ext cx="192024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80.25%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Action vs imagery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3774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382 / 476 trials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chance 50%</a:t>
            </a:r>
            <a:endParaRPr lang="en-US" sz="1100" dirty="0"/>
          </a:p>
        </p:txBody>
      </p:sp>
      <p:sp>
        <p:nvSpPr>
          <p:cNvPr id="7" name="result Body part (6 classes)"/>
          <p:cNvSpPr/>
          <p:nvPr/>
        </p:nvSpPr>
        <p:spPr>
          <a:xfrm>
            <a:off x="2560320" y="1051560"/>
            <a:ext cx="192024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97480" y="11887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26.68%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Body part (6 classes)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697480" y="23774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127 / 476 trials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chance 16.7%</a:t>
            </a:r>
            <a:endParaRPr lang="en-US" sz="1100" dirty="0"/>
          </a:p>
        </p:txBody>
      </p:sp>
      <p:sp>
        <p:nvSpPr>
          <p:cNvPr id="11" name="result Limb × condition (12)"/>
          <p:cNvSpPr/>
          <p:nvPr/>
        </p:nvSpPr>
        <p:spPr>
          <a:xfrm>
            <a:off x="4663440" y="1051560"/>
            <a:ext cx="192024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11887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21.43%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Limb × condition (12)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3774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102 / 476 trials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chance 8.3%</a:t>
            </a:r>
            <a:endParaRPr lang="en-US" sz="1100" dirty="0"/>
          </a:p>
        </p:txBody>
      </p:sp>
      <p:sp>
        <p:nvSpPr>
          <p:cNvPr id="15" name="result Left vs right imagery"/>
          <p:cNvSpPr/>
          <p:nvPr/>
        </p:nvSpPr>
        <p:spPr>
          <a:xfrm>
            <a:off x="6766560" y="1051560"/>
            <a:ext cx="192024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03720" y="11887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58.09%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Left vs right imagery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23774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140 / 241 trials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chance 50%, p = 0.007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4290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Trial-level accuracy, pooled over all test folds. Fold mean ± SD: 80.19 ± 6.59 (binary), 26.68 ± 1.79 (6-class), 21.42 ± 1.21 (12-class).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Body-part and 12-class accuracies are 1.6× and 2.6× chance: above chance, but far from usable control.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Comparison with other models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6692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91440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Model (window level, best feature set)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Action vs imagery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6-class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12-class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Our ensemble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68.53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21.01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15.75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Hist. Gradient Boosting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64.45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20.27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13.91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Random Forest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63.81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20.37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13.35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LDA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63.35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20.30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13.44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SVM (RBF)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62.89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20.70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14.32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Riemannian MDM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62.31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19.92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12.05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EEGNet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62.15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17.49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10.61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FBCSP + classifier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61.60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19.47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11.50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CNN–LSTM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58.38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355080" y="1005840"/>
            <a:ext cx="23317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Same folds and same people for every model.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Deep models (EEGNet, CNN–LSTM) trail the feature-based models: 476 trials is too little data to learn filters from raw EEG.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FBCSP alone is weaker than the full feature set.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AdaBoost (62.85) and Naive Bayes (59.80) were tested on the binary task only.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Where the model makes mistakes</a:t>
            </a:r>
            <a:endParaRPr lang="en-US" sz="2400" dirty="0"/>
          </a:p>
        </p:txBody>
      </p:sp>
      <p:pic>
        <p:nvPicPr>
          <p:cNvPr id="3" name="fig7_confusion" descr="fig7 confu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" y="868680"/>
            <a:ext cx="8183880" cy="3200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(a) action vs imagery   (b) six body parts   (c) twelve classes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Imagery recall 83.4%, action 77.0%.  </a:t>
            </a:r>
            <a:r>
              <a:rPr lang="en-US" sz="1150" dirty="0">
                <a:solidFill>
                  <a:schemeClr val="tx1"/>
                </a:solidFill>
              </a:rPr>
              <a:t>Arms are recognised best (RA 37.8%); left wrist worst (13.5%). In the 12-class task the condition is right 78.2% of the time but the body part only 25.8%.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Left vs right imagery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40680" y="1005840"/>
            <a:ext cx="32461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Requested by the guide. </a:t>
            </a:r>
            <a:r>
              <a:rPr lang="en-US" sz="1250" dirty="0">
                <a:solidFill>
                  <a:schemeClr val="tx1"/>
                </a:solidFill>
              </a:rPr>
              <a:t>Imagery trials only, 241 trials, 5-fold person-wise CV.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What helped: </a:t>
            </a:r>
            <a:r>
              <a:rPr lang="en-US" sz="1250" dirty="0">
                <a:solidFill>
                  <a:schemeClr val="tx1"/>
                </a:solidFill>
              </a:rPr>
              <a:t>calibrating features on each person's imagery trials only, plus mirror augmentation.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Baselines: </a:t>
            </a:r>
            <a:r>
              <a:rPr lang="en-US" sz="1250" dirty="0">
                <a:solidFill>
                  <a:schemeClr val="tx1"/>
                </a:solidFill>
              </a:rPr>
              <a:t>FBCSP + LDA 52.70%; standard calibration + mirror 53.53%.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Overall 58.09% is significant (p = 0.007); arm imagery reaches 74.07%.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Is the accuracy real? Leakage checks</a:t>
            </a:r>
            <a:endParaRPr lang="en-US" sz="2400" dirty="0"/>
          </a:p>
        </p:txBody>
      </p:sp>
      <p:sp>
        <p:nvSpPr>
          <p:cNvPr id="3" name="check Person-wise folds"/>
          <p:cNvSpPr/>
          <p:nvPr/>
        </p:nvSpPr>
        <p:spPr>
          <a:xfrm>
            <a:off x="457200" y="1005840"/>
            <a:ext cx="402336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70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✓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18872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Person-wise folds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57276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participant appears in both training and test sets in any fold; no duplicate EDF files.</a:t>
            </a:r>
            <a:endParaRPr lang="en-US" sz="1300" dirty="0"/>
          </a:p>
        </p:txBody>
      </p:sp>
      <p:sp>
        <p:nvSpPr>
          <p:cNvPr id="7" name="check Label permutation"/>
          <p:cNvSpPr/>
          <p:nvPr/>
        </p:nvSpPr>
        <p:spPr>
          <a:xfrm>
            <a:off x="4663440" y="1005840"/>
            <a:ext cx="402336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170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✓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257800" y="118872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Label permutation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257800" y="157276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With shuffled labels the pipeline falls to chance: 49.4 / 54.6 / 48.3% (binary), 18.7 / 17.6 / 18.5% (6-class).</a:t>
            </a:r>
            <a:endParaRPr lang="en-US" sz="1300" dirty="0"/>
          </a:p>
        </p:txBody>
      </p:sp>
      <p:sp>
        <p:nvSpPr>
          <p:cNvPr id="11" name="check Reproducibility"/>
          <p:cNvSpPr/>
          <p:nvPr/>
        </p:nvSpPr>
        <p:spPr>
          <a:xfrm>
            <a:off x="457200" y="2788920"/>
            <a:ext cx="402336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✓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9718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Reproducibility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35584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Same seed twice: 382 / 476 both times. Seeds 1, 2, 3: 384, 384, 386. Mean 80.59 ± 0.35%; changes come from the seed, not from learning across runs.</a:t>
            </a:r>
            <a:endParaRPr lang="en-US" sz="1300" dirty="0"/>
          </a:p>
        </p:txBody>
      </p:sp>
      <p:sp>
        <p:nvSpPr>
          <p:cNvPr id="15" name="check Onset sensitivity"/>
          <p:cNvSpPr/>
          <p:nvPr/>
        </p:nvSpPr>
        <p:spPr>
          <a:xfrm>
            <a:off x="4663440" y="2788920"/>
            <a:ext cx="402336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✓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9718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Onset sensitivity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335584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Shifting the onset by ±2 s: binary 75.9–79.2%, so the reported figure may be about 3 points optimistic.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Response to review feedback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Question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Finding / action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v10 results differ from earlier report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The executed notebook prints both v9 (79.62%) and v10 (80.25%) summaries; the deep models (EEGNet, CNN–LSTM) are not deterministic and shift by about 0.5–2 points between runs. The final numbers are v10.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Accuracy rising each run: leakage?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No. Same seed gives identical results (382/476 twice); other seeds give 384–386 (80.59 ± 0.35% over 5 runs); permutation tests sit at chance; folds are split by person. Nested CV on all tasks is being completed.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Only LR for left vs right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All eight models (LR, LDA, SVM, RF, ET, HGB, AdaBoost, NB) and the ensemble are being run on the L/R task with the same folds.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Add CSP features to every model?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FBCSP alone is weaker (61.60% vs 64.45%; L/R 52.70% vs 58.09%). Each model is being re-run with and without FBCSP features; CSP is kept only where it helps.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Limitations and next steps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Limitations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14 saline channels with sparse motor-cortex coverage (no C3/C4).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Onset estimated from motion; small timing errors remain.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session per person: no cross-session tests.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Six- and twelve-class accuracy is above chance but too low for control.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Next steps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3716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Finish nested CV and per-model ± CSP comparison; update paper.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Event markers during recording to remove onset estimation.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Short per-user calibration for left vs right imagery.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More recordings per person to allow deep models to learn.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26280" y="1005840"/>
            <a:ext cx="0" cy="3383280"/>
          </a:xfrm>
          <a:prstGeom prst="line">
            <a:avLst/>
          </a:prstGeom>
          <a:noFill/>
          <a:ln w="9525">
            <a:solidFill>
              <a:srgbClr val="D0D5DD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23444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Thank you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78892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Action vs imagery 80.25%  ·  Left vs right imagery 58.09%  ·  person-wise validation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accent5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Questions and suggestions welcome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oup18 Review">
  <a:themeElements>
    <a:clrScheme name="Group18 Review">
      <a:dk1>
        <a:srgbClr val="1F2328"/>
      </a:dk1>
      <a:lt1>
        <a:srgbClr val="FFFFFF"/>
      </a:lt1>
      <a:dk2>
        <a:srgbClr val="1F3A5F"/>
      </a:dk2>
      <a:lt2>
        <a:srgbClr val="F2F4F7"/>
      </a:lt2>
      <a:accent1>
        <a:srgbClr val="1F3A5F"/>
      </a:accent1>
      <a:accent2>
        <a:srgbClr val="3D7AB8"/>
      </a:accent2>
      <a:accent3>
        <a:srgbClr val="C8642B"/>
      </a:accent3>
      <a:accent4>
        <a:srgbClr val="6B7280"/>
      </a:accent4>
      <a:accent5>
        <a:srgbClr val="DCE6F2"/>
      </a:accent5>
      <a:accent6>
        <a:srgbClr val="2E7D5B"/>
      </a:accent6>
      <a:hlink>
        <a:srgbClr val="3D7AB8"/>
      </a:hlink>
      <a:folHlink>
        <a:srgbClr val="6B7280"/>
      </a:folHlink>
    </a:clrScheme>
    <a:fontScheme name="Group18 Review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EEG-Based Motor Action and Motor Imagery Classification</dc:title>
  <dc:subject>PptxGenJS Presentation</dc:subject>
  <dc:creator>Group 18, Amrita School of Artificial Intelligence</dc:creator>
  <cp:lastModifiedBy>Group 18, Amrita School of Artificial Intelligence</cp:lastModifiedBy>
  <cp:revision>1</cp:revision>
  <dcterms:created xsi:type="dcterms:W3CDTF">2026-10-16T19:19:47Z</dcterms:created>
  <dcterms:modified xsi:type="dcterms:W3CDTF">2026-10-16T19:19:47Z</dcterms:modified>
</cp:coreProperties>
</file>