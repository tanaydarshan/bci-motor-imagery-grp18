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f369838-cf6a-f455-91f6-265619f172de}">
          <p14:sldIdLst>
            <p14:sldId id="256"/>
            <p14:sldId id="257"/>
          </p14:sldIdLst>
        </p14:section>
        <p14:section name="Data and method" id="{1bce1748-4a48-3e7d-9630-a80927b2cf40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sults" id="{0196c7cd-226c-ca34-0759-56a8786bbbff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Validity" id="{125e6c30-7afe-016a-4bca-b2c6165d915f}">
          <p14:sldIdLst>
            <p14:sldId id="271"/>
            <p14:sldId id="272"/>
          </p14:sldIdLst>
        </p14:section>
        <p14:section name="Conclusion" id="{e21598c1-c916-1eca-f2fb-063554486dbc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+mn-lt"/>
              </a:rPr>
              <a:t>Trial accuracy by limb (chance = 50%)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3D7A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imagery</c:v>
                  </c:pt>
                  <c:pt idx="1">
                    <c:v>Arm</c:v>
                  </c:pt>
                  <c:pt idx="2">
                    <c:v>Leg</c:v>
                  </c:pt>
                  <c:pt idx="3">
                    <c:v>Wrist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58.09</c:v>
                </c:pt>
                <c:pt idx="1">
                  <c:v>74.07</c:v>
                </c:pt>
                <c:pt idx="2">
                  <c:v>58.97</c:v>
                </c:pt>
                <c:pt idx="3">
                  <c:v>58.54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topic: classifying real versus imagined limb movements from a 14-channel consumer EEG headset.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levels of difficulty. Person-wise validation is the key constraint: every reported number comes from people the model never saw during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session cycles through the six limbs, first performing and then imagining each movement. 59 recordings were collected; 53 passed onset checks; after trial rejection 476 trials from 47 people remain.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raw EEG and motion, onset detection, filtering, trial rejection, per-recording normalisation, 2 s windows, 1,771 features, per-recording alignment, ensemble, and finally averaging the 17 window predictions of each 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this step the action and imagery labels would be shifted in several sessions. A ±2 s onset shift changes binary accuracy by about 1 to 4 points, reported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rejections were large amplitude artefacts from movement and blinks, which is expected with a dry consumer headset.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handcrafted set is the classic EEG feature set. Spectrogram and scalogram features add time-frequency detail; the Riemannian features describe how channels co-vary.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Feature-family results are trial-level without mirror augmentation. Each family is useful alone, but combining them is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model outputs class probabilities per window; they are averaged, then averaged again over the 17 windows of a trial. Mirror copies are added only to training folds, never to test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Window-level accuracies are lower: 68.53% binary, 21.01% six-class, 15.75% twelve-class. Averaging the 17 windows of a trial adds roughly 12 points for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window-level accuracies so all models are on equal footing. The ensemble's trial-level result is the 80.25% from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separates action from imagery well but confuses limbs, especially wrists and legs, which have small or deep cortical representations that 14 scalp channels capture poorly.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versus right imagery is the hardest binary task because imagery produces weak, lateralised mu changes. Arms show the clearest lateralisation, matching their large cortical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the guide: all eight models were run on left versus right imagery, each with and without filter-bank CSP features fitted inside each training fold. Chance is 50 percent. Ensemble 140 of 241, p = 0.007. LR or LDA with CSP 143 of 241, p = 0.002.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model was rerun with and without filter-bank CSP features. The effect is small and inconsistent in sign, so we report CSP as an optional add-on rather than changing the main pipeline. 6- and 12-class runs are still in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scaler, alignment and model is refitted inside each fold. Normalisation per recording uses no labels. Permutation tests at chance confirm the pipeline is not memorising subject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CSP learns spatial filters for two-class variance differences. Our feature set already includes band power per channel and Riemannian covariance features, which carry the same information, so CSP is expected to add little.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multi-class results; the main contribution is a leakage-free pipeline and a strong action versus imagery result on a consumer headset.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Group 18  |  EEG motor action and motor imagery classification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EEG-Based Motor Action and Motor Imagery Classification Using Machine Learning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Harsada K  ·  V Tanay Darshan  ·  K Nikhitha  ·  S Sai Tejesh Reddy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Guide: Dr. Abhishek 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Group 18  ·  Amrita School of Artificial Intelligence, Coimbatore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Problem and objectives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Can a low-cost 14-channel headset tell whether a person is moving a limb or only imagining it, and which limb?</a:t>
            </a:r>
            <a:endParaRPr lang="en-US" sz="1500" dirty="0"/>
          </a:p>
        </p:txBody>
      </p:sp>
      <p:sp>
        <p:nvSpPr>
          <p:cNvPr id="4" name="objective card 1"/>
          <p:cNvSpPr/>
          <p:nvPr/>
        </p:nvSpPr>
        <p:spPr>
          <a:xfrm>
            <a:off x="457200" y="1783080"/>
            <a:ext cx="260604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Action vs imagery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Separate real movement from imagined movement (2 classes).</a:t>
            </a:r>
            <a:endParaRPr lang="en-US" sz="1200" dirty="0"/>
          </a:p>
        </p:txBody>
      </p:sp>
      <p:sp>
        <p:nvSpPr>
          <p:cNvPr id="8" name="objective card 2"/>
          <p:cNvSpPr/>
          <p:nvPr/>
        </p:nvSpPr>
        <p:spPr>
          <a:xfrm>
            <a:off x="3246120" y="1783080"/>
            <a:ext cx="260604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Which limb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Identify the body part: right/left arm, leg, wrist (6 classes) and limb × condition (12 classes).</a:t>
            </a:r>
            <a:endParaRPr lang="en-US" sz="1200" dirty="0"/>
          </a:p>
        </p:txBody>
      </p:sp>
      <p:sp>
        <p:nvSpPr>
          <p:cNvPr id="12" name="objective card 3"/>
          <p:cNvSpPr/>
          <p:nvPr/>
        </p:nvSpPr>
        <p:spPr>
          <a:xfrm>
            <a:off x="6035040" y="1783080"/>
            <a:ext cx="260604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Left vs right imagery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Decide the side of an imagined movement, the core control signal of a motor-imagery BCI.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Constraint throughout: evaluation on unseen people only (person-wise cross-validation), with no information leaking from test subjects.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Dataset and recording protocol</a:t>
            </a:r>
            <a:endParaRPr lang="en-US" sz="2400" dirty="0"/>
          </a:p>
        </p:txBody>
      </p:sp>
      <p:pic>
        <p:nvPicPr>
          <p:cNvPr id="3" name="fig2_protocol" descr="fig2 protoc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644" y="914400"/>
            <a:ext cx="8228712" cy="2377440"/>
          </a:xfrm>
          <a:prstGeom prst="rect">
            <a:avLst/>
          </a:prstGeom>
        </p:spPr>
      </p:pic>
      <p:sp>
        <p:nvSpPr>
          <p:cNvPr id="4" name="stat participants"/>
          <p:cNvSpPr txBox="1"/>
          <p:nvPr/>
        </p:nvSpPr>
        <p:spPr>
          <a:xfrm>
            <a:off x="54864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95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participants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70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51 recordings used</a:t>
            </a:r>
            <a:endParaRPr lang="en-US" sz="1100" dirty="0"/>
          </a:p>
        </p:txBody>
      </p:sp>
      <p:sp>
        <p:nvSpPr>
          <p:cNvPr id="7" name="stat Emotiv EPOC X"/>
          <p:cNvSpPr txBox="1"/>
          <p:nvPr/>
        </p:nvSpPr>
        <p:spPr>
          <a:xfrm>
            <a:off x="260604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ch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2606040" y="3995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Emotiv EPOC X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4270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128 Hz, plus motion sensor</a:t>
            </a:r>
            <a:endParaRPr lang="en-US" sz="1100" dirty="0"/>
          </a:p>
        </p:txBody>
      </p:sp>
      <p:sp>
        <p:nvSpPr>
          <p:cNvPr id="10" name="stat tasks"/>
          <p:cNvSpPr txBox="1"/>
          <p:nvPr/>
        </p:nvSpPr>
        <p:spPr>
          <a:xfrm>
            <a:off x="466344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995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tasks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4270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6 limbs × action / imagery</a:t>
            </a:r>
            <a:endParaRPr lang="en-US" sz="1100" dirty="0"/>
          </a:p>
        </p:txBody>
      </p:sp>
      <p:sp>
        <p:nvSpPr>
          <p:cNvPr id="13" name="stat clean trials"/>
          <p:cNvSpPr txBox="1"/>
          <p:nvPr/>
        </p:nvSpPr>
        <p:spPr>
          <a:xfrm>
            <a:off x="672084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476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3995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clean trials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4270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235 action, 241 imagery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Processing pipeline</a:t>
            </a:r>
            <a:endParaRPr lang="en-US" sz="2400" dirty="0"/>
          </a:p>
        </p:txBody>
      </p:sp>
      <p:pic>
        <p:nvPicPr>
          <p:cNvPr id="3" name="fig1_pipeline" descr="fig1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81732"/>
            <a:ext cx="8046720" cy="34943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All normalisation steps are label-free; every learned step is fitted on training people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Finding when the tasks start</a:t>
            </a:r>
            <a:endParaRPr lang="en-US" sz="2400" dirty="0"/>
          </a:p>
        </p:txBody>
      </p:sp>
      <p:pic>
        <p:nvPicPr>
          <p:cNvPr id="3" name="fig3_onset" descr="fig3 on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84743"/>
            <a:ext cx="8229600" cy="257391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Task start varied between recordings, so fixed timing would mislabel windows.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Head-motion energy from the motion sensor is high during real movement and low during imagery; the schedule offset that best separates them is taken as the onset.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Accepted when the contrast is strong (t ≥ 4, all 6 pairs agree): 48 recordings; 5 more checked against recording length; 2 excluded.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Filtering, cleaning and normalisation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Band-pass 4–45 Hz </a:t>
            </a:r>
            <a:r>
              <a:rPr lang="en-US" sz="1500" dirty="0">
                <a:solidFill>
                  <a:schemeClr val="tx1"/>
                </a:solidFill>
              </a:rPr>
              <a:t>zero-phase FIR (MNE): removes drift and line noise, keeps theta to gamma.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Trial rejection </a:t>
            </a:r>
            <a:r>
              <a:rPr lang="en-US" sz="1500" dirty="0">
                <a:solidFill>
                  <a:schemeClr val="tx1"/>
                </a:solidFill>
              </a:rPr>
              <a:t>flat signal, peak amplitude ≥ 150 µV, or mean |kurtosis| ≥ 10.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Per-recording z-score </a:t>
            </a:r>
            <a:r>
              <a:rPr lang="en-US" sz="1500" dirty="0">
                <a:solidFill>
                  <a:schemeClr val="tx1"/>
                </a:solidFill>
              </a:rPr>
              <a:t>of each channel, then of each feature: removes headset fit and session offsets without using labels.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Windows </a:t>
            </a:r>
            <a:r>
              <a:rPr lang="en-US" sz="1500" dirty="0">
                <a:solidFill>
                  <a:schemeClr val="tx1"/>
                </a:solidFill>
              </a:rPr>
              <a:t>2 s long, 0.5 s stride: 17 windows per trial, 8,092 windows in total.</a:t>
            </a:r>
            <a:endParaRPr lang="en-US" sz="1500" dirty="0"/>
          </a:p>
        </p:txBody>
      </p:sp>
      <p:sp>
        <p:nvSpPr>
          <p:cNvPr id="4" name="rejection panel"/>
          <p:cNvSpPr/>
          <p:nvPr/>
        </p:nvSpPr>
        <p:spPr>
          <a:xfrm>
            <a:off x="5577840" y="1005840"/>
            <a:ext cx="31089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064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Trials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636</a:t>
            </a:r>
            <a:r>
              <a:rPr lang="en-US" sz="2200" dirty="0">
                <a:solidFill>
                  <a:schemeClr val="accent4"/>
                </a:solidFill>
              </a:rPr>
              <a:t>  →  </a:t>
            </a: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476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331720"/>
          <a:ext cx="269748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Amplitude ≥ 150 µV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Kurtosis ≥ 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Window overlap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806440" y="34290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Rejection reasons can overlap; 160 trials removed in total.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Features: 1,771 per window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39496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Family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it captures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Count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Handcrafted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Band powers (Welch), ratios, asymmetry, Hjorth, statistics, fractal, DWT (db4)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336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Spectrogram (STFT)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Short-time Fourier power over time and frequency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560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Scalogram (CWT)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Morlet wavelet power: fine time detail at high frequencies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Connectivity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Coherence between channel pairs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Riemannian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Covariance matrix mapped to tangent space, recentred per recording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1,771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Every feature is z-scored within its own recording before classification.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Spectrogram and scalogram analysis</a:t>
            </a:r>
            <a:endParaRPr lang="en-US" sz="2400" dirty="0"/>
          </a:p>
        </p:txBody>
      </p:sp>
      <p:pic>
        <p:nvPicPr>
          <p:cNvPr id="3" name="fig5_timefreq" descr="fig5 timefre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9159"/>
            <a:ext cx="5120640" cy="25738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60720" y="100584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Mu (8–13 Hz) power drops during movement over the motor cortex; the drop is weaker for imagery.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scalogram resolves short bursts that the spectrogram smears.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Used alone: STFT 76.47%, CWT 77.52%, STFT+CWT 78.15% (binary). All features together: 79.62%.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Classifier: a four-model ensemble</a:t>
            </a:r>
            <a:endParaRPr lang="en-US" sz="2400" dirty="0"/>
          </a:p>
        </p:txBody>
      </p:sp>
      <p:sp>
        <p:nvSpPr>
          <p:cNvPr id="3" name="model Logistic Regression"/>
          <p:cNvSpPr/>
          <p:nvPr/>
        </p:nvSpPr>
        <p:spPr>
          <a:xfrm>
            <a:off x="457200" y="1005840"/>
            <a:ext cx="2377440" cy="566928"/>
          </a:xfrm>
          <a:prstGeom prst="rect">
            <a:avLst/>
          </a:prstGeom>
          <a:solidFill>
            <a:schemeClr val="bg2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05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Logistic Regression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C = 0.01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834640" y="1289304"/>
            <a:ext cx="411480" cy="1065276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6" name="model LDA"/>
          <p:cNvSpPr/>
          <p:nvPr/>
        </p:nvSpPr>
        <p:spPr>
          <a:xfrm>
            <a:off x="457200" y="1719072"/>
            <a:ext cx="2377440" cy="566928"/>
          </a:xfrm>
          <a:prstGeom prst="rect">
            <a:avLst/>
          </a:prstGeom>
          <a:solidFill>
            <a:schemeClr val="bg2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190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LDA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shrinkage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34640" y="2002536"/>
            <a:ext cx="411480" cy="352044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9" name="model Extra Trees"/>
          <p:cNvSpPr/>
          <p:nvPr/>
        </p:nvSpPr>
        <p:spPr>
          <a:xfrm>
            <a:off x="457200" y="2432304"/>
            <a:ext cx="2377440" cy="566928"/>
          </a:xfrm>
          <a:prstGeom prst="rect">
            <a:avLst/>
          </a:prstGeom>
          <a:solidFill>
            <a:schemeClr val="bg2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323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Extra Trees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500 trees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flipV="1">
            <a:off x="2834640" y="2354580"/>
            <a:ext cx="411480" cy="361188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12" name="model Hist. Gradient Boosting"/>
          <p:cNvSpPr/>
          <p:nvPr/>
        </p:nvSpPr>
        <p:spPr>
          <a:xfrm>
            <a:off x="457200" y="3145536"/>
            <a:ext cx="2377440" cy="566928"/>
          </a:xfrm>
          <a:prstGeom prst="rect">
            <a:avLst/>
          </a:prstGeom>
          <a:solidFill>
            <a:schemeClr val="bg2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455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Hist. Gradient Boosting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200 iterations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flipV="1">
            <a:off x="2834640" y="2354580"/>
            <a:ext cx="411480" cy="1074420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15" name="average box"/>
          <p:cNvSpPr/>
          <p:nvPr/>
        </p:nvSpPr>
        <p:spPr>
          <a:xfrm>
            <a:off x="3246120" y="1920240"/>
            <a:ext cx="1463040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Average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probabilities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354580"/>
            <a:ext cx="320040" cy="0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8" name="trial box"/>
          <p:cNvSpPr/>
          <p:nvPr/>
        </p:nvSpPr>
        <p:spPr>
          <a:xfrm>
            <a:off x="5029200" y="1920240"/>
            <a:ext cx="1371600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1920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Trial vote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mean of 17 windows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Mirror augmentation: </a:t>
            </a:r>
            <a:r>
              <a:rPr lang="en-US" sz="1250" dirty="0">
                <a:solidFill>
                  <a:schemeClr val="tx1"/>
                </a:solidFill>
              </a:rPr>
              <a:t>training windows are copied with left/right channels swapped and labels flipped (RA↔LA).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Validation: </a:t>
            </a:r>
            <a:r>
              <a:rPr lang="en-US" sz="1250" dirty="0">
                <a:solidFill>
                  <a:schemeClr val="tx1"/>
                </a:solidFill>
              </a:rPr>
              <a:t>GroupKFold by person, 5 folds (binary, L/R) and 3 folds (6/12-class).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1051560"/>
            <a:ext cx="2057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4"/>
                </a:solidFill>
              </a:rPr>
              <a:t>Linear models handle the many weak spectral cues; tree models pick up non-linear interactions. Averaging is more stable than any single model.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Results on unseen participants</a:t>
            </a:r>
            <a:endParaRPr lang="en-US" sz="2400" dirty="0"/>
          </a:p>
        </p:txBody>
      </p:sp>
      <p:sp>
        <p:nvSpPr>
          <p:cNvPr id="3" name="result Action vs imagery"/>
          <p:cNvSpPr/>
          <p:nvPr/>
        </p:nvSpPr>
        <p:spPr>
          <a:xfrm>
            <a:off x="457200" y="1051560"/>
            <a:ext cx="192024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80.25%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Action vs imagery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774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382 / 476 trials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chance 50%</a:t>
            </a:r>
            <a:endParaRPr lang="en-US" sz="1100" dirty="0"/>
          </a:p>
        </p:txBody>
      </p:sp>
      <p:sp>
        <p:nvSpPr>
          <p:cNvPr id="7" name="result Body part (6 classes)"/>
          <p:cNvSpPr/>
          <p:nvPr/>
        </p:nvSpPr>
        <p:spPr>
          <a:xfrm>
            <a:off x="2560320" y="1051560"/>
            <a:ext cx="192024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26.68%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Body part (6 classes)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3774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127 / 476 trials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chance 16.7%</a:t>
            </a:r>
            <a:endParaRPr lang="en-US" sz="1100" dirty="0"/>
          </a:p>
        </p:txBody>
      </p:sp>
      <p:sp>
        <p:nvSpPr>
          <p:cNvPr id="11" name="result Limb × condition (12)"/>
          <p:cNvSpPr/>
          <p:nvPr/>
        </p:nvSpPr>
        <p:spPr>
          <a:xfrm>
            <a:off x="4663440" y="1051560"/>
            <a:ext cx="192024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21.43%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Limb × condition (12)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3774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102 / 476 trials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chance 8.3%</a:t>
            </a:r>
            <a:endParaRPr lang="en-US" sz="1100" dirty="0"/>
          </a:p>
        </p:txBody>
      </p:sp>
      <p:sp>
        <p:nvSpPr>
          <p:cNvPr id="15" name="result Left vs right imagery"/>
          <p:cNvSpPr/>
          <p:nvPr/>
        </p:nvSpPr>
        <p:spPr>
          <a:xfrm>
            <a:off x="6766560" y="1051560"/>
            <a:ext cx="192024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58.09%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Left vs right imagery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3774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140 / 241 trials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chance 50%, p = 0.007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Trial-level accuracy, pooled over all test folds. Fold mean ± SD: 80.19 ± 6.59 (binary), 26.68 ± 1.79 (6-class), 21.42 ± 1.21 (12-class).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Body-part and 12-class accuracies are 1.6× and 2.6× chance: above chance, but far from usable control.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Comparison with other models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669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 (window level, best feature set)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Action vs imagery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6-class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12-class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Our ensemble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68.53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21.01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15.75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Hist. Gradient Boosting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64.45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20.27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13.91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63.81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20.37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13.35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LDA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63.35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20.30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13.44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SVM (RBF)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62.89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20.70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14.32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Riemannian MDM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62.31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19.92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12.05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EEGNet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62.15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17.49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10.61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FBCSP + classifier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61.60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19.47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11.50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CNN–LSTM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58.38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55080" y="1005840"/>
            <a:ext cx="23317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Same folds and same people for every model.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Deep models (EEGNet, CNN–LSTM) trail the feature-based models: 476 trials is too little data to learn filters from raw EEG.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FBCSP alone is weaker than the full feature set.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AdaBoost (62.85) and Naive Bayes (59.80) were tested on the binary task only.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Where the model makes mistakes</a:t>
            </a:r>
            <a:endParaRPr lang="en-US" sz="2400" dirty="0"/>
          </a:p>
        </p:txBody>
      </p:sp>
      <p:pic>
        <p:nvPicPr>
          <p:cNvPr id="3" name="fig7_confusion" descr="fig7 confu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" y="868680"/>
            <a:ext cx="818388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(a) action vs imagery   (b) six body parts   (c) twelve classes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Imagery recall 83.4%, action 77.0%.  </a:t>
            </a:r>
            <a:r>
              <a:rPr lang="en-US" sz="1150" dirty="0">
                <a:solidFill>
                  <a:schemeClr val="tx1"/>
                </a:solidFill>
              </a:rPr>
              <a:t>Arms are recognised best (RA 37.8%); left wrist worst (13.5%). In the 12-class task the condition is right 78.2% of the time but the body part only 25.8%.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Left vs right imagery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40680" y="1005840"/>
            <a:ext cx="3246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Requested by the guide. </a:t>
            </a:r>
            <a:r>
              <a:rPr lang="en-US" sz="1250" dirty="0">
                <a:solidFill>
                  <a:schemeClr val="tx1"/>
                </a:solidFill>
              </a:rPr>
              <a:t>Imagery trials only, 241 trials, 5-fold person-wise CV.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What helped: </a:t>
            </a:r>
            <a:r>
              <a:rPr lang="en-US" sz="1250" dirty="0">
                <a:solidFill>
                  <a:schemeClr val="tx1"/>
                </a:solidFill>
              </a:rPr>
              <a:t>calibrating features on each person's imagery trials only, plus mirror augmentation.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Baselines: </a:t>
            </a:r>
            <a:r>
              <a:rPr lang="en-US" sz="1250" dirty="0">
                <a:solidFill>
                  <a:schemeClr val="tx1"/>
                </a:solidFill>
              </a:rPr>
              <a:t>FBCSP + LDA 52.70%; standard calibration + mirror 53.53%.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Overall 58.09% is significant (p = 0.007); arm imagery reaches 74.07%.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Left vs right: every model, with and without CSP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731520"/>
                <a:gridCol w="100584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 (241 imagery trials)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Base: correct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Base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+ FBCSP: correct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+ FBCSP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Ensemble (LR+LDA+ET+HGB)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58.09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138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57.26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57.68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59.34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LDA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56.85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59.34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SVM (RBF)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54.36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54.77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Extra Trees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50.62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51.45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Hist. Gradient Boosting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50.21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53.11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AdaBoost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48.55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54.36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Naive Bayes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45.23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48.13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44.81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43.57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72200" y="960120"/>
            <a:ext cx="2514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Same 5 person-wise folds, imagery calibration and mirror augmentation for every model.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Linear models work best: the left/right signal is a weak, roughly linear power difference between hemispheres.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CSP: </a:t>
            </a:r>
            <a:r>
              <a:rPr lang="en-US" sz="1150" dirty="0">
                <a:solidFill>
                  <a:schemeClr val="tx1"/>
                </a:solidFill>
              </a:rPr>
              <a:t>+4 trials for LR and LDA (59.34%, p = 0.002), no gain for the ensemble. The rise is within fold spread (±5%), so CSP is optional, not a clear improvement.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Trees and Naive Bayes stay near chance with 241 trials.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Action vs imagery: every model, with and without CSP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6692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731520"/>
                <a:gridCol w="731520"/>
                <a:gridCol w="82296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 (476 trials)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Base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+ FBCSP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+ FBCSP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Δ trials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Ensemble (LR+LDA+ET+HGB)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382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80.25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387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81.30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+5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383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80.46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79.83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LDA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382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80.25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381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80.04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Hist. Gradient Boosting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377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79.20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381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80.04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AdaBoost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78.78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79.83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Extra Trees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371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77.94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376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78.99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SVM (RBF)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371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77.94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366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76.89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369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77.52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374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78.57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Naive Bayes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348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73.11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347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72.90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55080" y="960120"/>
            <a:ext cx="2331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Same 5 person-wise folds; CSP filters are fitted on training people only.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Tree models gain 4–5 trials; LR, LDA, SVM and NB lose 1–5.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Ensemble + CSP: </a:t>
            </a:r>
            <a:r>
              <a:rPr lang="en-US" sz="1150" dirty="0">
                <a:solidFill>
                  <a:schemeClr val="tx1"/>
                </a:solidFill>
              </a:rPr>
              <a:t>387/476 (81.30%), +5 trials (+1.05 points), well inside the fold spread (±5–7%).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On left vs right the same ensemble loses 2 trials with CSP. CSP's band-power contrasts largely repeat our band-power and covariance features.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Is the accuracy real? Leakage checks</a:t>
            </a:r>
            <a:endParaRPr lang="en-US" sz="2400" dirty="0"/>
          </a:p>
        </p:txBody>
      </p:sp>
      <p:sp>
        <p:nvSpPr>
          <p:cNvPr id="3" name="check Person-wise folds"/>
          <p:cNvSpPr/>
          <p:nvPr/>
        </p:nvSpPr>
        <p:spPr>
          <a:xfrm>
            <a:off x="457200" y="100584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Person-wise folds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7276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participant appears in both training and test sets in any fold; no duplicate EDF files.</a:t>
            </a:r>
            <a:endParaRPr lang="en-US" sz="1300" dirty="0"/>
          </a:p>
        </p:txBody>
      </p:sp>
      <p:sp>
        <p:nvSpPr>
          <p:cNvPr id="7" name="check Label permutation"/>
          <p:cNvSpPr/>
          <p:nvPr/>
        </p:nvSpPr>
        <p:spPr>
          <a:xfrm>
            <a:off x="4663440" y="100584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✓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Label permutation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57276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Shuffled labels give chance: action/imagery 50–55% (real 80.25), body part 17–19% (real 26.68), left/right 44–51% (real 58.09).</a:t>
            </a:r>
            <a:endParaRPr lang="en-US" sz="1300" dirty="0"/>
          </a:p>
        </p:txBody>
      </p:sp>
      <p:sp>
        <p:nvSpPr>
          <p:cNvPr id="11" name="check Reproducibility"/>
          <p:cNvSpPr/>
          <p:nvPr/>
        </p:nvSpPr>
        <p:spPr>
          <a:xfrm>
            <a:off x="457200" y="278892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Reproducibility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3558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seed twice: 382 / 476 both times. Seeds 1, 2, 3: 384, 384, 386. Mean 80.59 ± 0.35%; changes come from the seed, not from learning across runs.</a:t>
            </a:r>
            <a:endParaRPr lang="en-US" sz="1300" dirty="0"/>
          </a:p>
        </p:txBody>
      </p:sp>
      <p:sp>
        <p:nvSpPr>
          <p:cNvPr id="15" name="check Onset sensitivity"/>
          <p:cNvSpPr/>
          <p:nvPr/>
        </p:nvSpPr>
        <p:spPr>
          <a:xfrm>
            <a:off x="4663440" y="2788920"/>
            <a:ext cx="40233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Onset sensitivity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35584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Shifting the onset by ±2 s: binary 75.9–79.2%, so the reported figure may be about 3 points optimistic.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Response to review feedback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Question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Finding /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v10 results differ from earlier report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executed notebook prints both v9 (79.62%) and v10 (80.25%) summaries; the deep models (EEGNet, CNN–LSTM) are not deterministic and shift by about 0.5–2 points between runs. The final numbers are v10.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Accuracy rising each run: leakage?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No. Same seed gives identical results (382/476 twice); other seeds give 384–386 (80.59 ± 0.35% over 5 runs); shuffled-label tests give chance on action/imagery, body part and left/right; folds are split by person. Nested CV still running.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Only LR for left vs right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Done. The reported 58.09% is the ensemble. All 8 models were run on the same folds: LR 57.68%, LDA 56.85%, SVM 54.36%; tree models and NB 45–51%.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Add CSP features to every model?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Tested on all models. Ensemble: +5 trials on action vs imagery (81.30%), −2 on left vs right (57.26%). Gains are small, mixed and within fold noise, so CSP stays optional. 6/12-class still running.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Limitations and next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14 saline channels with sparse motor-cortex coverage (no C3/C4).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Onset estimated from motion; small timing errors remain.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session per person: no cross-session tests.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Six- and twelve-class accuracy is above chance but too low for control.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Finish nested CV and per-model ± CSP comparison; update paper.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Event markers during recording to remove onset estimation.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Short per-user calibration for left vs right imagery.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More recordings per person to allow deep models to learn.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005840"/>
            <a:ext cx="0" cy="338328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Thank you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Action vs imagery 80.25%  ·  Left vs right imagery 58.09%  ·  person-wise validation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Questions and suggestions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p18 Review">
  <a:themeElements>
    <a:clrScheme name="Group18 Review">
      <a:dk1>
        <a:srgbClr val="1F2328"/>
      </a:dk1>
      <a:lt1>
        <a:srgbClr val="FFFFFF"/>
      </a:lt1>
      <a:dk2>
        <a:srgbClr val="1F3A5F"/>
      </a:dk2>
      <a:lt2>
        <a:srgbClr val="F2F4F7"/>
      </a:lt2>
      <a:accent1>
        <a:srgbClr val="1F3A5F"/>
      </a:accent1>
      <a:accent2>
        <a:srgbClr val="3D7AB8"/>
      </a:accent2>
      <a:accent3>
        <a:srgbClr val="C8642B"/>
      </a:accent3>
      <a:accent4>
        <a:srgbClr val="6B7280"/>
      </a:accent4>
      <a:accent5>
        <a:srgbClr val="DCE6F2"/>
      </a:accent5>
      <a:accent6>
        <a:srgbClr val="2E7D5B"/>
      </a:accent6>
      <a:hlink>
        <a:srgbClr val="3D7AB8"/>
      </a:hlink>
      <a:folHlink>
        <a:srgbClr val="6B7280"/>
      </a:folHlink>
    </a:clrScheme>
    <a:fontScheme name="Group18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EEG-Based Motor Action and Motor Imagery Classification</dc:title>
  <dc:subject>PptxGenJS Presentation</dc:subject>
  <dc:creator>Group 18, Amrita School of Artificial Intelligence</dc:creator>
  <cp:lastModifiedBy>Group 18, Amrita School of Artificial Intelligence</cp:lastModifiedBy>
  <cp:revision>1</cp:revision>
  <dcterms:created xsi:type="dcterms:W3CDTF">2026-10-17T02:45:44Z</dcterms:created>
  <dcterms:modified xsi:type="dcterms:W3CDTF">2026-10-17T02:45:44Z</dcterms:modified>
</cp:coreProperties>
</file>